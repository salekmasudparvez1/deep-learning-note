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6858000" cx="12192000"/>
  <p:notesSz cx="6858000" cy="9144000"/>
  <p:embeddedFontLst>
    <p:embeddedFont>
      <p:font typeface="Quattrocento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D0D50A-6D2E-4B8F-BF69-A89423C67027}">
  <a:tblStyle styleId="{F7D0D50A-6D2E-4B8F-BF69-A89423C67027}" styleName="Table_0">
    <a:wholeTbl>
      <a:tcTxStyle b="off" i="off">
        <a:font>
          <a:latin typeface="Segoe UI"/>
          <a:ea typeface="Segoe UI"/>
          <a:cs typeface="Segoe U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55990A1-7C6C-459C-9C85-172F1A4ACEE3}" styleName="Table_1">
    <a:wholeTbl>
      <a:tcTxStyle b="off" i="off">
        <a:font>
          <a:latin typeface="Segoe UI"/>
          <a:ea typeface="Segoe UI"/>
          <a:cs typeface="Segoe U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fill>
          <a:solidFill>
            <a:srgbClr val="F8D6CC"/>
          </a:solidFill>
        </a:fill>
      </a:tcStyle>
    </a:band1H>
    <a:band2H>
      <a:tcTxStyle/>
    </a:band2H>
    <a:band1V>
      <a:tcTxStyle/>
      <a:tcStyle>
        <a:fill>
          <a:solidFill>
            <a:srgbClr val="F8D6CC"/>
          </a:solidFill>
        </a:fill>
      </a:tcStyle>
    </a:band1V>
    <a:band2V>
      <a:tcTxStyle/>
    </a:band2V>
    <a:la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  <a:tblStyle styleId="{484473AD-06B3-49C7-A91A-2991E6DCF24C}" styleName="Table_2">
    <a:wholeTbl>
      <a:tcTxStyle b="off" i="off">
        <a:font>
          <a:latin typeface="Segoe UI"/>
          <a:ea typeface="Segoe UI"/>
          <a:cs typeface="Segoe U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fill>
          <a:solidFill>
            <a:srgbClr val="D4E2CE"/>
          </a:solidFill>
        </a:fill>
      </a:tcStyle>
    </a:band1H>
    <a:band2H>
      <a:tcTxStyle/>
    </a:band2H>
    <a:band1V>
      <a:tcTxStyle/>
      <a:tcStyle>
        <a:fill>
          <a:solidFill>
            <a:srgbClr val="D4E2CE"/>
          </a:solidFill>
        </a:fill>
      </a:tcStyle>
    </a:band1V>
    <a:band2V>
      <a:tcTxStyle/>
    </a:band2V>
    <a:la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B79C9A1E-E09B-430A-8E56-1B7F328ACACB}" styleName="Table_3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QuattrocentoSans-bold.fntdata"/><Relationship Id="rId50" Type="http://schemas.openxmlformats.org/officeDocument/2006/relationships/font" Target="fonts/QuattrocentoSans-regular.fntdata"/><Relationship Id="rId53" Type="http://schemas.openxmlformats.org/officeDocument/2006/relationships/font" Target="fonts/QuattrocentoSans-boldItalic.fntdata"/><Relationship Id="rId52" Type="http://schemas.openxmlformats.org/officeDocument/2006/relationships/font" Target="fonts/Quattrocento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Quattrocento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Quattrocento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480767" y="1122362"/>
            <a:ext cx="11255603" cy="42886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From Research Foundations to Quality Publications</a:t>
            </a:r>
            <a:br>
              <a:rPr b="1" lang="en-US">
                <a:latin typeface="Calibri"/>
                <a:ea typeface="Calibri"/>
                <a:cs typeface="Calibri"/>
                <a:sym typeface="Calibri"/>
              </a:rPr>
            </a:br>
            <a:br>
              <a:rPr b="1" lang="en-US"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Introduction to Research</a:t>
            </a:r>
            <a:endParaRPr b="1" i="0" sz="4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Mirza Niaz Morshed</a:t>
            </a:r>
            <a:endParaRPr b="1"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Topics</a:t>
            </a:r>
            <a:endParaRPr b="1"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838200" y="1564849"/>
            <a:ext cx="10515600" cy="3619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•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 Scope of research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•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 Types of research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•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 Key areas in research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•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 Ethical considerations in research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•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 Research Metrics and Citations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Scope of Research </a:t>
            </a:r>
            <a:endParaRPr b="1"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838200" y="1857080"/>
            <a:ext cx="10515600" cy="4392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Research is a systematic and methodical investigation aimed at discovering, interpreting, and advancing knowledge. The scope of research defines its boundaries, applicability, and significance across various fields.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Why is Research Important?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838200" y="1866507"/>
            <a:ext cx="10515600" cy="43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/>
              <a:t>Advances scientific and technological knowledge.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/>
              <a:t>Solves real-world problems in industries, healthcare, and society.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/>
              <a:t>Supports policy-making and business strategies.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/>
              <a:t>Encourages innovation and interdisciplinary collaboration.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Find a Research Scope: Step-by-Step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838200" y="1913641"/>
            <a:ext cx="10515600" cy="433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Step 1: Identify Your Research Interests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Reflect on your passion/expertise</a:t>
            </a:r>
            <a:r>
              <a:rPr lang="en-US"/>
              <a:t>: What topics excite you?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Review past coursework/projects</a:t>
            </a:r>
            <a:r>
              <a:rPr lang="en-US"/>
              <a:t>: Which areas did you perform well in?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Follow industry trends</a:t>
            </a:r>
            <a:r>
              <a:rPr lang="en-US"/>
              <a:t>: What are emerging fields (e.g., AI, sustainability, blockchain)?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</a:rPr>
              <a:t>Example</a:t>
            </a:r>
            <a:r>
              <a:rPr lang="en-US">
                <a:solidFill>
                  <a:srgbClr val="0070C0"/>
                </a:solidFill>
              </a:rPr>
              <a:t>: If you studied computer science, you might explore AI ethics or quantum computing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Find a Research Scope: Step-by-Step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838200" y="1913641"/>
            <a:ext cx="10515600" cy="433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Step 2: Conduct a Preliminary Literature Review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Search academic databases</a:t>
            </a:r>
            <a:r>
              <a:rPr lang="en-US"/>
              <a:t> (Google Scholar, IEEE Xplore, Scopus).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Identify gaps</a:t>
            </a:r>
            <a:r>
              <a:rPr lang="en-US"/>
              <a:t>: Look for unanswered questions or conflicting findings.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Note key papers/authors</a:t>
            </a:r>
            <a:r>
              <a:rPr lang="en-US"/>
              <a:t>: Who are the leading researchers in your field?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</a:rPr>
              <a:t>Tools</a:t>
            </a:r>
            <a:r>
              <a:rPr lang="en-US">
                <a:solidFill>
                  <a:srgbClr val="0070C0"/>
                </a:solidFill>
              </a:rPr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b="1" lang="en-US">
                <a:solidFill>
                  <a:srgbClr val="0070C0"/>
                </a:solidFill>
              </a:rPr>
              <a:t>Keyword search</a:t>
            </a:r>
            <a:r>
              <a:rPr lang="en-US">
                <a:solidFill>
                  <a:srgbClr val="0070C0"/>
                </a:solidFill>
              </a:rPr>
              <a:t> (e.g., "machine learning in healthcare").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b="1" lang="en-US">
                <a:solidFill>
                  <a:srgbClr val="0070C0"/>
                </a:solidFill>
              </a:rPr>
              <a:t>Citation tracking</a:t>
            </a:r>
            <a:r>
              <a:rPr lang="en-US">
                <a:solidFill>
                  <a:srgbClr val="0070C0"/>
                </a:solidFill>
              </a:rPr>
              <a:t> (see who cited a major paper).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Find a Research Scope: Step-by-Step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8199" y="1690688"/>
            <a:ext cx="10964159" cy="4983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Step 3: Define the Problem Statement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Narrow down focus</a:t>
            </a:r>
            <a:r>
              <a:rPr lang="en-US"/>
              <a:t>: Avoid overly broad topics.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Use the FINER criteria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F</a:t>
            </a:r>
            <a:r>
              <a:rPr lang="en-US"/>
              <a:t>easible (Do you have resources?)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I</a:t>
            </a:r>
            <a:r>
              <a:rPr lang="en-US"/>
              <a:t>nteresting (Is it engaging?)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N</a:t>
            </a:r>
            <a:r>
              <a:rPr lang="en-US"/>
              <a:t>ovel (Is it original?)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E</a:t>
            </a:r>
            <a:r>
              <a:rPr lang="en-US"/>
              <a:t>thical (Does it follow research ethics?)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R</a:t>
            </a:r>
            <a:r>
              <a:rPr lang="en-US"/>
              <a:t>elevant (Does it matter to society/industry?)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</a:rPr>
              <a:t>Example</a:t>
            </a:r>
            <a:r>
              <a:rPr lang="en-US">
                <a:solidFill>
                  <a:srgbClr val="0070C0"/>
                </a:solidFill>
              </a:rPr>
              <a:t>:</a:t>
            </a:r>
            <a:br>
              <a:rPr lang="en-US">
                <a:solidFill>
                  <a:srgbClr val="0070C0"/>
                </a:solidFill>
              </a:rPr>
            </a:br>
            <a:r>
              <a:rPr lang="en-US" sz="2400">
                <a:solidFill>
                  <a:srgbClr val="0070C0"/>
                </a:solidFill>
              </a:rPr>
              <a:t>❌ Too broad: </a:t>
            </a:r>
            <a:r>
              <a:rPr i="1" lang="en-US" sz="2400">
                <a:solidFill>
                  <a:srgbClr val="0070C0"/>
                </a:solidFill>
              </a:rPr>
              <a:t>"AI in healthcare"</a:t>
            </a:r>
            <a:br>
              <a:rPr lang="en-US" sz="2400">
                <a:solidFill>
                  <a:srgbClr val="0070C0"/>
                </a:solidFill>
              </a:rPr>
            </a:br>
            <a:r>
              <a:rPr lang="en-US" sz="2400">
                <a:solidFill>
                  <a:srgbClr val="0070C0"/>
                </a:solidFill>
              </a:rPr>
              <a:t>✅ Better: </a:t>
            </a:r>
            <a:r>
              <a:rPr i="1" lang="en-US" sz="2400">
                <a:solidFill>
                  <a:srgbClr val="0070C0"/>
                </a:solidFill>
              </a:rPr>
              <a:t>"Explainable AI for early detection of diabetic retinopathy"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Find a Research Scope: Step-by-Step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838199" y="1885361"/>
            <a:ext cx="10964159" cy="4788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Step 4: Consult with Advisors/Experts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Discuss feasibility</a:t>
            </a:r>
            <a:r>
              <a:rPr lang="en-US"/>
              <a:t> with professors or industry professionals.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Get feedback</a:t>
            </a:r>
            <a:r>
              <a:rPr lang="en-US"/>
              <a:t> on novelty and methodology.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Refine scope</a:t>
            </a:r>
            <a:r>
              <a:rPr lang="en-US"/>
              <a:t> based on expert input.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</a:rPr>
              <a:t>Questions to ask:</a:t>
            </a:r>
            <a:endParaRPr>
              <a:solidFill>
                <a:srgbClr val="0070C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i="1" lang="en-US">
                <a:solidFill>
                  <a:srgbClr val="0070C0"/>
                </a:solidFill>
              </a:rPr>
              <a:t>"Has this been done before?"</a:t>
            </a:r>
            <a:endParaRPr>
              <a:solidFill>
                <a:srgbClr val="0070C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i="1" lang="en-US">
                <a:solidFill>
                  <a:srgbClr val="0070C0"/>
                </a:solidFill>
              </a:rPr>
              <a:t>"What are the practical challenges?"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Find a Research Scope: Step-by-Step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838199" y="1885361"/>
            <a:ext cx="10964159" cy="4788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Step 5: Assess Available Resources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Time</a:t>
            </a:r>
            <a:r>
              <a:rPr lang="en-US"/>
              <a:t>: Can you complete it within deadlines?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Funding</a:t>
            </a:r>
            <a:r>
              <a:rPr lang="en-US"/>
              <a:t>: Do you need grants/lab access?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Data</a:t>
            </a:r>
            <a:r>
              <a:rPr lang="en-US"/>
              <a:t>: Is there available/open-source data?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Tools</a:t>
            </a:r>
            <a:r>
              <a:rPr lang="en-US"/>
              <a:t>: Do you need specialized software/hardware?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</a:rPr>
              <a:t>Example</a:t>
            </a:r>
            <a:r>
              <a:rPr lang="en-US">
                <a:solidFill>
                  <a:srgbClr val="0070C0"/>
                </a:solidFill>
              </a:rPr>
              <a:t>: If researching deep learning, check GPU availability for training models.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Find a Research Scope: Step-by-Step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838199" y="1885361"/>
            <a:ext cx="10964159" cy="4788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Step 6: Consider Societal &amp; Industry Impact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Why does this research matter?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Does it solve a real-world problem?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Will it influence policies or business strategies?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</a:rPr>
              <a:t>Example</a:t>
            </a:r>
            <a:r>
              <a:rPr lang="en-US">
                <a:solidFill>
                  <a:srgbClr val="0070C0"/>
                </a:solidFill>
              </a:rPr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i="1" lang="en-US">
                <a:solidFill>
                  <a:srgbClr val="0070C0"/>
                </a:solidFill>
              </a:rPr>
              <a:t>"Blockchain for secure medical records"</a:t>
            </a:r>
            <a:r>
              <a:rPr lang="en-US">
                <a:solidFill>
                  <a:srgbClr val="0070C0"/>
                </a:solidFill>
              </a:rPr>
              <a:t> → Impacts healthcare data privacy.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Find a Research Scope: Step-by-Step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838199" y="1885361"/>
            <a:ext cx="10964159" cy="4788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Step 7: Validate Scope with a Research Proposal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Write a brief proposal</a:t>
            </a:r>
            <a:r>
              <a:rPr lang="en-US"/>
              <a:t> (~1-2 pages) covering: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Background</a:t>
            </a:r>
            <a:r>
              <a:rPr lang="en-US"/>
              <a:t> (Why this topic?)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Objectives</a:t>
            </a:r>
            <a:r>
              <a:rPr lang="en-US"/>
              <a:t> (What will you achieve?)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Methodology</a:t>
            </a:r>
            <a:r>
              <a:rPr lang="en-US"/>
              <a:t> (How will you conduct research?)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Expected outcomes</a:t>
            </a:r>
            <a:r>
              <a:rPr lang="en-US"/>
              <a:t> (What impact will it have?)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Peer Review</a:t>
            </a:r>
            <a:r>
              <a:rPr lang="en-US"/>
              <a:t>: Share with colleagues for feedback.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Find a Research Scope: Step-by-Step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838199" y="1885361"/>
            <a:ext cx="10964159" cy="4788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Step 8: Refine &amp; Finalize Scope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Eliminate ambiguities</a:t>
            </a:r>
            <a:r>
              <a:rPr lang="en-US"/>
              <a:t>: Ensure clarity in research questions.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Set boundaries</a:t>
            </a:r>
            <a:r>
              <a:rPr lang="en-US"/>
              <a:t>: Define what is </a:t>
            </a:r>
            <a:r>
              <a:rPr b="1" lang="en-US"/>
              <a:t>included/excluded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Stay flexible</a:t>
            </a:r>
            <a:r>
              <a:rPr lang="en-US"/>
              <a:t>: Be open to adjustments as research progresses.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</a:rPr>
              <a:t>Example</a:t>
            </a:r>
            <a:r>
              <a:rPr lang="en-US">
                <a:solidFill>
                  <a:srgbClr val="0070C0"/>
                </a:solidFill>
              </a:rPr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i="1" lang="en-US">
                <a:solidFill>
                  <a:srgbClr val="0070C0"/>
                </a:solidFill>
              </a:rPr>
              <a:t>"This study focuses on supervised learning models, excluding unsupervised methods."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Find a Research Scope: Step-by-Step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838199" y="1885361"/>
            <a:ext cx="1096415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b="1" lang="en-US" sz="3600"/>
              <a:t>Common Mistakes to Avoid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❌ </a:t>
            </a:r>
            <a:r>
              <a:rPr b="1" lang="en-US" sz="3200"/>
              <a:t>Too broad</a:t>
            </a:r>
            <a:r>
              <a:rPr lang="en-US" sz="3200"/>
              <a:t>: "Cybersecurity threats" → Better: "Ransomware detection using ML."</a:t>
            </a:r>
            <a:br>
              <a:rPr lang="en-US" sz="3200"/>
            </a:br>
            <a:r>
              <a:rPr lang="en-US" sz="3200"/>
              <a:t>❌ </a:t>
            </a:r>
            <a:r>
              <a:rPr b="1" lang="en-US" sz="3200"/>
              <a:t>Too narrow</a:t>
            </a:r>
            <a:r>
              <a:rPr lang="en-US" sz="3200"/>
              <a:t>: "Impact of Python version 3.11 on a specific library" → May lack significance.</a:t>
            </a:r>
            <a:br>
              <a:rPr lang="en-US" sz="3200"/>
            </a:br>
            <a:r>
              <a:rPr lang="en-US" sz="3200"/>
              <a:t>❌ </a:t>
            </a:r>
            <a:r>
              <a:rPr b="1" lang="en-US" sz="3200"/>
              <a:t>Ignoring feasibility</a:t>
            </a:r>
            <a:r>
              <a:rPr lang="en-US" sz="3200"/>
              <a:t>: Proposing quantum computing research without lab access.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Dimensions of Research Scope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838199" y="1885361"/>
            <a:ext cx="1096415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A. Academic &amp; Theoretical Research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Purpose</a:t>
            </a:r>
            <a:r>
              <a:rPr lang="en-US" sz="3200"/>
              <a:t>: Expands fundamental knowledge in sciences, humanities, and engineering.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Examples</a:t>
            </a:r>
            <a:r>
              <a:rPr lang="en-US" sz="32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Developing new mathematical models.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Exploring philosophical theories.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Studying behavioral patterns in psychology.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Dimensions of Research Scope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838199" y="1885361"/>
            <a:ext cx="1096415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B. Applied &amp; Industrial Research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Purpose</a:t>
            </a:r>
            <a:r>
              <a:rPr lang="en-US" sz="3200"/>
              <a:t>: Solves practical problems and improves technologies.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Examples</a:t>
            </a:r>
            <a:r>
              <a:rPr lang="en-US" sz="32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AI-driven healthcare diagnostics.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Renewable energy solutions for sustainability.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Cybersecurity advancements for data protection.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Dimensions of Research Scope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838199" y="1885361"/>
            <a:ext cx="1096415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C. Interdisciplinary Research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Purpose</a:t>
            </a:r>
            <a:r>
              <a:rPr lang="en-US" sz="3200"/>
              <a:t>: Combines multiple fields for innovative solutions.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Examples</a:t>
            </a:r>
            <a:r>
              <a:rPr lang="en-US" sz="32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AI + Medicine (Predictive healthcare analytics).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Blockchain + Finance (Decentralized finance).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IoT + Agriculture (Smart farming).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Types of Research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838199" y="1885361"/>
            <a:ext cx="1096415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A. Original Research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Definition</a:t>
            </a:r>
            <a:r>
              <a:rPr lang="en-US"/>
              <a:t>: Generates new knowledge through experiments, surveys, or simulations.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Characteristics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Tests hypotheses.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Involves data collection.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Examples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Inventing a new machine learning model.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Discovering a chemical compound.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Types of Research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838199" y="1885361"/>
            <a:ext cx="1096415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B. Review Research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Definition</a:t>
            </a:r>
            <a:r>
              <a:rPr lang="en-US"/>
              <a:t>: Summarizes and evaluates existing research.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Types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Narrative Review</a:t>
            </a:r>
            <a:r>
              <a:rPr lang="en-US"/>
              <a:t>: Broad overview of a topic.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Systematic Review</a:t>
            </a:r>
            <a:r>
              <a:rPr lang="en-US"/>
              <a:t>: Structured analysis of multiple studies (common in medicine).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Meta-Analysis</a:t>
            </a:r>
            <a:r>
              <a:rPr lang="en-US"/>
              <a:t>: Statistically combines results from different studies.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Example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A paper summarizing 50 studies on blockchain security risks.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Types of Research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838199" y="1885361"/>
            <a:ext cx="1096415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C. Descriptive Research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Goal</a:t>
            </a:r>
            <a:r>
              <a:rPr lang="en-US" sz="3200"/>
              <a:t>: Observe and document phenomena without manipulation.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Methods</a:t>
            </a:r>
            <a:r>
              <a:rPr lang="en-US" sz="32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Case studies, observational studies.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Example</a:t>
            </a:r>
            <a:r>
              <a:rPr lang="en-US" sz="32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 report on consumer behavior in e-commerce.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Types of Research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838199" y="1885361"/>
            <a:ext cx="1096415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D. Experimental Research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Goal</a:t>
            </a:r>
            <a:r>
              <a:rPr lang="en-US" sz="3200"/>
              <a:t>: Establish cause-effect relationships.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Methods</a:t>
            </a:r>
            <a:r>
              <a:rPr lang="en-US" sz="32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Controlled lab experiments, A/B testing.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Example</a:t>
            </a:r>
            <a:r>
              <a:rPr lang="en-US" sz="32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Testing two website designs to see which gets more clicks.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Types of Research</a:t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838199" y="1885361"/>
            <a:ext cx="1096415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E. Exploratory Research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Goal</a:t>
            </a:r>
            <a:r>
              <a:rPr lang="en-US" sz="3200"/>
              <a:t>: Investigate an unclear problem.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Methods</a:t>
            </a:r>
            <a:r>
              <a:rPr lang="en-US" sz="32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Pilot studies, open-ended surveys.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Example</a:t>
            </a:r>
            <a:r>
              <a:rPr lang="en-US" sz="32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Studying how Gen Z uses AI chatbots (new, underexplored topic).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Types of Research: At a Glance</a:t>
            </a:r>
            <a:endParaRPr/>
          </a:p>
        </p:txBody>
      </p: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838199" y="1885361"/>
            <a:ext cx="1096415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Research can be categorized by: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✔ Purpose (Basic, Applied, Action).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✔ Methodology (Qualitative, Quantitative, Mixed).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✔ Data Source (Primary, Secondary).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✔ Specialization (Longitudinal, Case Study, etc.).</a:t>
            </a:r>
            <a:endParaRPr sz="4000"/>
          </a:p>
        </p:txBody>
      </p:sp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Areas in Research</a:t>
            </a:r>
            <a:br>
              <a:rPr b="1" lang="en-US"/>
            </a:br>
            <a:r>
              <a:rPr b="1" lang="en-US" sz="2800">
                <a:solidFill>
                  <a:srgbClr val="0070C0"/>
                </a:solidFill>
              </a:rPr>
              <a:t>Computer Science &amp; Information Technology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838199" y="1885361"/>
            <a:ext cx="5506825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400"/>
              <a:t>Artificial Intelligence &amp; Machine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Neural networks, deep learning, reinforcement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Natural language processing (NLP), computer vision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Explainable AI, ethical AI, AI safety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400"/>
              <a:t>Data Science &amp; Big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Predictive analytics, data mining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Cloud computing, distributed systems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Business intelligence, data visualization</a:t>
            </a:r>
            <a:endParaRPr/>
          </a:p>
        </p:txBody>
      </p:sp>
      <p:sp>
        <p:nvSpPr>
          <p:cNvPr id="217" name="Google Shape;217;p35"/>
          <p:cNvSpPr txBox="1"/>
          <p:nvPr/>
        </p:nvSpPr>
        <p:spPr>
          <a:xfrm>
            <a:off x="6608190" y="1690687"/>
            <a:ext cx="5506825" cy="4436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Cybersecurity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Cryptography, blockchain security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security, intrusion detection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Ethical hacking, cyber forensics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Internet of Things (IoT)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 cities, industrial IoT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Wearable technology, health monitoring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networks, edge computing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Areas in Research</a:t>
            </a:r>
            <a:br>
              <a:rPr b="1" lang="en-US"/>
            </a:br>
            <a:r>
              <a:rPr b="1" lang="en-US" sz="2800">
                <a:solidFill>
                  <a:srgbClr val="0070C0"/>
                </a:solidFill>
              </a:rPr>
              <a:t>Engineering &amp; Technology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838199" y="1885361"/>
            <a:ext cx="5506825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Electrical &amp; Electronics Engineering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Power systems, renewable energy integration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Semiconductor technology, VLSI design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Robotics, automation systems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Mechanical &amp; Aerospace Engineering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Advanced materials, nanotechnology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Aerodynamics, space exploration tech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Sustainable energy systems</a:t>
            </a:r>
            <a:endParaRPr/>
          </a:p>
        </p:txBody>
      </p:sp>
      <p:sp>
        <p:nvSpPr>
          <p:cNvPr id="224" name="Google Shape;224;p36"/>
          <p:cNvSpPr txBox="1"/>
          <p:nvPr/>
        </p:nvSpPr>
        <p:spPr>
          <a:xfrm>
            <a:off x="6608190" y="1690687"/>
            <a:ext cx="5506825" cy="4436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Civil &amp; Environmental Engineering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 infrastructure, earthquake-resistant design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Water resource management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Green construction materials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Areas in Research</a:t>
            </a:r>
            <a:br>
              <a:rPr b="1" lang="en-US"/>
            </a:br>
            <a:r>
              <a:rPr b="1" lang="en-US" sz="2800">
                <a:solidFill>
                  <a:srgbClr val="0070C0"/>
                </a:solidFill>
              </a:rPr>
              <a:t>Biomedical &amp; Life Sciences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838199" y="1885361"/>
            <a:ext cx="9352176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Medical Research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Precision medicine, genomics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Biomedical imaging, prosthetics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Drug discovery, vaccine development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Biotechnology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CRISPR gene editing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Synthetic biology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Biofuels, agricultural biotech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Areas in Research</a:t>
            </a:r>
            <a:br>
              <a:rPr b="1" lang="en-US"/>
            </a:br>
            <a:r>
              <a:rPr b="1" lang="en-US" sz="2800">
                <a:solidFill>
                  <a:srgbClr val="0070C0"/>
                </a:solidFill>
              </a:rPr>
              <a:t>Business &amp; Economics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838199" y="1885361"/>
            <a:ext cx="9352176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Digital Transformation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Fintech, blockchain applications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E-commerce, digital marketing analytics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AI in business decision-making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Behavioural Economics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Consumer psychology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Nudge theory applications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Market trend prediction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Areas in Research</a:t>
            </a:r>
            <a:br>
              <a:rPr b="1" lang="en-US"/>
            </a:br>
            <a:r>
              <a:rPr b="1" lang="en-US" sz="2800">
                <a:solidFill>
                  <a:srgbClr val="0070C0"/>
                </a:solidFill>
              </a:rPr>
              <a:t>Emerging Interdisciplinary Fields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838199" y="1885361"/>
            <a:ext cx="9352176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Legal Tech: </a:t>
            </a:r>
            <a:r>
              <a:rPr lang="en-US" sz="3200"/>
              <a:t>AI in law, smart contracts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Neurotechnology: </a:t>
            </a:r>
            <a:r>
              <a:rPr lang="en-US" sz="3200"/>
              <a:t>Brain-computer interfaces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Quantum Computing:</a:t>
            </a:r>
            <a:r>
              <a:rPr lang="en-US" sz="3200"/>
              <a:t>	Cryptography, optimization problems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Sustainable Tech: </a:t>
            </a:r>
            <a:r>
              <a:rPr lang="en-US" sz="3200"/>
              <a:t>Circular economy, carbon capture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Areas in Research</a:t>
            </a:r>
            <a:br>
              <a:rPr b="1" lang="en-US"/>
            </a:br>
            <a:r>
              <a:rPr b="1" lang="en-US" sz="2800">
                <a:solidFill>
                  <a:srgbClr val="0070C0"/>
                </a:solidFill>
              </a:rPr>
              <a:t>Social Sciences &amp; Humanities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838199" y="1885361"/>
            <a:ext cx="9352176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Computational social science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Digital humanities, AI in education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Cybersecurity policy, digital ethics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Choosing Your Research Area</a:t>
            </a:r>
            <a:endParaRPr/>
          </a:p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838198" y="1885361"/>
            <a:ext cx="1070020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Align with expertise</a:t>
            </a:r>
            <a:r>
              <a:rPr lang="en-US" sz="3200"/>
              <a:t>: Match to your academic background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Consider impact</a:t>
            </a:r>
            <a:r>
              <a:rPr lang="en-US" sz="3200"/>
              <a:t>: Societal vs commercial applications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Assess resources</a:t>
            </a:r>
            <a:r>
              <a:rPr lang="en-US" sz="3200"/>
              <a:t>: Data/tools availability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Future relevance</a:t>
            </a:r>
            <a:r>
              <a:rPr lang="en-US" sz="3200"/>
              <a:t>: Growth potential of the field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Ethical considerations in Research</a:t>
            </a:r>
            <a:endParaRPr/>
          </a:p>
        </p:txBody>
      </p:sp>
      <p:sp>
        <p:nvSpPr>
          <p:cNvPr id="260" name="Google Shape;260;p42"/>
          <p:cNvSpPr txBox="1"/>
          <p:nvPr>
            <p:ph idx="1" type="body"/>
          </p:nvPr>
        </p:nvSpPr>
        <p:spPr>
          <a:xfrm>
            <a:off x="838198" y="1885361"/>
            <a:ext cx="10700209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Key Principles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Integrity</a:t>
            </a:r>
            <a:r>
              <a:rPr lang="en-US"/>
              <a:t>: Honest reporting of methods and results.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Plagiarism Avoidance</a:t>
            </a:r>
            <a:r>
              <a:rPr lang="en-US"/>
              <a:t>: Proper citation of sources.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Confidentiality</a:t>
            </a:r>
            <a:r>
              <a:rPr lang="en-US"/>
              <a:t>: Protecting participant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Informed Consent</a:t>
            </a:r>
            <a:r>
              <a:rPr lang="en-US"/>
              <a:t>: Participants must voluntarily agree.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Conflict of Interest</a:t>
            </a:r>
            <a:r>
              <a:rPr lang="en-US"/>
              <a:t>: Disclose funding sources or biases.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Ethical considerations in Research</a:t>
            </a:r>
            <a:endParaRPr/>
          </a:p>
        </p:txBody>
      </p:sp>
      <p:sp>
        <p:nvSpPr>
          <p:cNvPr id="266" name="Google Shape;266;p43"/>
          <p:cNvSpPr txBox="1"/>
          <p:nvPr>
            <p:ph idx="1" type="body"/>
          </p:nvPr>
        </p:nvSpPr>
        <p:spPr>
          <a:xfrm>
            <a:off x="838198" y="1885361"/>
            <a:ext cx="11020722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Ethical Violations &amp; Consequences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Data fabrication → Loss of credibility, retractions.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Unauthorized use of human/animal subjects → Legal penalties.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Institutional Oversight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IRB (Institutional Review Board)</a:t>
            </a:r>
            <a:r>
              <a:rPr lang="en-US"/>
              <a:t>: Approves human subject research.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Peer Review</a:t>
            </a:r>
            <a:r>
              <a:rPr lang="en-US"/>
              <a:t>: Ensures validity before publication.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Journal Metrics &amp; Citations</a:t>
            </a:r>
            <a:endParaRPr/>
          </a:p>
        </p:txBody>
      </p:sp>
      <p:sp>
        <p:nvSpPr>
          <p:cNvPr id="272" name="Google Shape;272;p44"/>
          <p:cNvSpPr txBox="1"/>
          <p:nvPr>
            <p:ph idx="1" type="body"/>
          </p:nvPr>
        </p:nvSpPr>
        <p:spPr>
          <a:xfrm>
            <a:off x="838198" y="1885361"/>
            <a:ext cx="11020722" cy="424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Understanding Citations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Citations are references to published works that researchers use to: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Give credit to original authors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Support arguments with evidence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Enable readers to locate original sources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Research Metrics &amp; Citations</a:t>
            </a:r>
            <a:endParaRPr/>
          </a:p>
        </p:txBody>
      </p:sp>
      <p:sp>
        <p:nvSpPr>
          <p:cNvPr id="278" name="Google Shape;278;p45"/>
          <p:cNvSpPr txBox="1"/>
          <p:nvPr>
            <p:ph idx="1" type="body"/>
          </p:nvPr>
        </p:nvSpPr>
        <p:spPr>
          <a:xfrm>
            <a:off x="838198" y="1885361"/>
            <a:ext cx="11020722" cy="4607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Types of Citations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In-text citations</a:t>
            </a:r>
            <a:r>
              <a:rPr lang="en-US"/>
              <a:t> (e.g., APA, MLA, IEEE)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Bibliography/References</a:t>
            </a:r>
            <a:r>
              <a:rPr lang="en-US"/>
              <a:t> (full source details)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Self-citations</a:t>
            </a:r>
            <a:r>
              <a:rPr lang="en-US"/>
              <a:t> (referencing one's own work)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US" sz="2400">
                <a:solidFill>
                  <a:srgbClr val="0070C0"/>
                </a:solidFill>
              </a:rPr>
              <a:t>Why Citations Matter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70C0"/>
                </a:solidFill>
              </a:rPr>
              <a:t>Measure research impact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70C0"/>
                </a:solidFill>
              </a:rPr>
              <a:t>Establish credibility &amp; avoid plagiarism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70C0"/>
                </a:solidFill>
              </a:rPr>
              <a:t>Help track academic influence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Research Metrics &amp; Citations</a:t>
            </a:r>
            <a:endParaRPr/>
          </a:p>
        </p:txBody>
      </p:sp>
      <p:sp>
        <p:nvSpPr>
          <p:cNvPr id="284" name="Google Shape;284;p46"/>
          <p:cNvSpPr txBox="1"/>
          <p:nvPr>
            <p:ph idx="1" type="body"/>
          </p:nvPr>
        </p:nvSpPr>
        <p:spPr>
          <a:xfrm>
            <a:off x="838198" y="1593130"/>
            <a:ext cx="11020722" cy="489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In-Text Citations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In-text citations are brief references within the body of your work that point readers to the full source in your bibliography.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Key Characteristics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Appear </a:t>
            </a:r>
            <a:r>
              <a:rPr b="1" lang="en-US"/>
              <a:t>inside paragraphs</a:t>
            </a:r>
            <a:r>
              <a:rPr lang="en-US"/>
              <a:t> or as </a:t>
            </a:r>
            <a:r>
              <a:rPr b="1" lang="en-US"/>
              <a:t>footnotes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Include </a:t>
            </a:r>
            <a:r>
              <a:rPr b="1" lang="en-US"/>
              <a:t>minimal information</a:t>
            </a:r>
            <a:r>
              <a:rPr lang="en-US"/>
              <a:t> (author, year, page if needed)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Link to </a:t>
            </a:r>
            <a:r>
              <a:rPr b="1" lang="en-US"/>
              <a:t>full references</a:t>
            </a:r>
            <a:r>
              <a:rPr lang="en-US"/>
              <a:t> in the bibliography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Style varies by </a:t>
            </a:r>
            <a:r>
              <a:rPr b="1" lang="en-US"/>
              <a:t>citation format</a:t>
            </a:r>
            <a:r>
              <a:rPr lang="en-US"/>
              <a:t> (APA, MLA, IEEE, etc.)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b="1" i="0" lang="en-US" sz="2800" u="none" cap="none" strike="noStrike">
                <a:solidFill>
                  <a:srgbClr val="0070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</a:t>
            </a:r>
            <a:r>
              <a:rPr b="0" i="0" lang="en-US" sz="2800" u="none" cap="none" strike="noStrike">
                <a:solidFill>
                  <a:srgbClr val="0070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Quattrocento Sans"/>
              <a:buChar char="•"/>
            </a:pPr>
            <a:r>
              <a:rPr b="0" i="0" lang="en-US" sz="2800" u="none" cap="none" strike="noStrike">
                <a:solidFill>
                  <a:srgbClr val="0070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"Climate change impacts are worsening (Smith, 2020)."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Quattrocento Sans"/>
              <a:buChar char="•"/>
            </a:pPr>
            <a:r>
              <a:rPr b="0" i="0" lang="en-US" sz="2800" u="none" cap="none" strike="noStrike">
                <a:solidFill>
                  <a:srgbClr val="0070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"Recent studies confirm this trend (Johnson &amp; Lee, 2022, p. 45)."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Research Metrics &amp; Citations</a:t>
            </a:r>
            <a:endParaRPr/>
          </a:p>
        </p:txBody>
      </p:sp>
      <p:sp>
        <p:nvSpPr>
          <p:cNvPr id="290" name="Google Shape;290;p47"/>
          <p:cNvSpPr txBox="1"/>
          <p:nvPr>
            <p:ph idx="1" type="body"/>
          </p:nvPr>
        </p:nvSpPr>
        <p:spPr>
          <a:xfrm>
            <a:off x="838198" y="1593130"/>
            <a:ext cx="11020722" cy="489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b="1" lang="en-US" sz="3000"/>
              <a:t>References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    Definition: </a:t>
            </a:r>
            <a:r>
              <a:rPr lang="en-US"/>
              <a:t>A list of all the sources directly cited in your work (quotes, paraphrases, or specific data).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</a:t>
            </a:r>
            <a:r>
              <a:rPr b="1" lang="en-US"/>
              <a:t>Purpose: </a:t>
            </a:r>
            <a:r>
              <a:rPr lang="en-US"/>
              <a:t>To allow readers to locate the sources you used to support your arguments.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</a:t>
            </a:r>
            <a:r>
              <a:rPr b="1" lang="en-US"/>
              <a:t>Placement: </a:t>
            </a:r>
            <a:r>
              <a:rPr lang="en-US"/>
              <a:t>Appears at the end of the document, usually titled "References" (APA), "Works Cited" (MLA), or "Reference List" (Harvard).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</a:t>
            </a:r>
            <a:r>
              <a:rPr b="1" lang="en-US"/>
              <a:t>Content: </a:t>
            </a:r>
            <a:r>
              <a:rPr lang="en-US"/>
              <a:t>Only includes sources actually mentioned in your text.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b="1" lang="en-US">
                <a:solidFill>
                  <a:srgbClr val="0070C0"/>
                </a:solidFill>
              </a:rPr>
              <a:t>Example (APA Style):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    Smith, J. (2020). Modern Marketing Strategies. Business Press.</a:t>
            </a:r>
            <a:endParaRPr i="0" sz="2800" u="none" cap="none" strike="noStrike">
              <a:solidFill>
                <a:srgbClr val="0070C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Research Metrics &amp; Citations</a:t>
            </a:r>
            <a:endParaRPr/>
          </a:p>
        </p:txBody>
      </p:sp>
      <p:sp>
        <p:nvSpPr>
          <p:cNvPr id="296" name="Google Shape;296;p48"/>
          <p:cNvSpPr txBox="1"/>
          <p:nvPr>
            <p:ph idx="1" type="body"/>
          </p:nvPr>
        </p:nvSpPr>
        <p:spPr>
          <a:xfrm>
            <a:off x="838198" y="1593130"/>
            <a:ext cx="11020722" cy="489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3000"/>
              <a:t>Bibliography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00"/>
              <a:t>    Definition: </a:t>
            </a:r>
            <a:r>
              <a:rPr lang="en-US" sz="3000"/>
              <a:t>A list of all sources consulted during research, whether or not they were cited in the final work.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    </a:t>
            </a:r>
            <a:r>
              <a:rPr b="1" lang="en-US" sz="3000"/>
              <a:t>Purpose: </a:t>
            </a:r>
            <a:r>
              <a:rPr lang="en-US" sz="3000"/>
              <a:t>Shows the breadth of your research and may include background readings or sources for further study.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    </a:t>
            </a:r>
            <a:r>
              <a:rPr b="1" lang="en-US" sz="3000"/>
              <a:t>Placement: </a:t>
            </a:r>
            <a:r>
              <a:rPr lang="en-US" sz="3000"/>
              <a:t>Also at the end of the document, under the heading "Bibliography".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    </a:t>
            </a:r>
            <a:r>
              <a:rPr b="1" lang="en-US" sz="3000"/>
              <a:t>Content: </a:t>
            </a:r>
            <a:r>
              <a:rPr lang="en-US" sz="3000"/>
              <a:t>Includes everything in the references list plus other relevant sources not cited.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US" sz="3000">
                <a:solidFill>
                  <a:srgbClr val="0070C0"/>
                </a:solidFill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 sz="3000">
                <a:solidFill>
                  <a:srgbClr val="0070C0"/>
                </a:solidFill>
              </a:rPr>
              <a:t>    Doe, A. (2018). Foundations of Management. University Press.</a:t>
            </a:r>
            <a:endParaRPr i="0" sz="2800" u="none" cap="none" strike="noStrike">
              <a:solidFill>
                <a:srgbClr val="0070C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Research Metrics</a:t>
            </a:r>
            <a:endParaRPr/>
          </a:p>
        </p:txBody>
      </p:sp>
      <p:sp>
        <p:nvSpPr>
          <p:cNvPr id="302" name="Google Shape;302;p49"/>
          <p:cNvSpPr txBox="1"/>
          <p:nvPr>
            <p:ph idx="1" type="body"/>
          </p:nvPr>
        </p:nvSpPr>
        <p:spPr>
          <a:xfrm>
            <a:off x="838198" y="1885361"/>
            <a:ext cx="11020722" cy="4607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Article-Level Metrics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graphicFrame>
        <p:nvGraphicFramePr>
          <p:cNvPr id="303" name="Google Shape;303;p49"/>
          <p:cNvGraphicFramePr/>
          <p:nvPr/>
        </p:nvGraphicFramePr>
        <p:xfrm>
          <a:off x="838198" y="26834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{F7D0D50A-6D2E-4B8F-BF69-A89423C67027}</a:tableStyleId>
              </a:tblPr>
              <a:tblGrid>
                <a:gridCol w="1979900"/>
                <a:gridCol w="1979900"/>
                <a:gridCol w="1979900"/>
              </a:tblGrid>
              <a:tr h="42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Metric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Example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61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Citation Count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Total times a paper is cited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100 citations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10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Altmetric Score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Measures online attention (news, social media)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Score of 45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4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Downloads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Number of times a paper is accessed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5,000 downloads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304" name="Google Shape;304;p49"/>
          <p:cNvPicPr preferRelativeResize="0"/>
          <p:nvPr/>
        </p:nvPicPr>
        <p:blipFill rotWithShape="1">
          <a:blip r:embed="rId3">
            <a:alphaModFix/>
          </a:blip>
          <a:srcRect b="53814" l="27026" r="4136" t="23093"/>
          <a:stretch/>
        </p:blipFill>
        <p:spPr>
          <a:xfrm>
            <a:off x="6822407" y="182810"/>
            <a:ext cx="5335571" cy="1105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8802" y="1470398"/>
            <a:ext cx="343852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060" y="3299547"/>
            <a:ext cx="3436918" cy="3520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Research Metrics</a:t>
            </a:r>
            <a:endParaRPr/>
          </a:p>
        </p:txBody>
      </p:sp>
      <p:sp>
        <p:nvSpPr>
          <p:cNvPr id="312" name="Google Shape;312;p50"/>
          <p:cNvSpPr txBox="1"/>
          <p:nvPr>
            <p:ph idx="1" type="body"/>
          </p:nvPr>
        </p:nvSpPr>
        <p:spPr>
          <a:xfrm>
            <a:off x="838198" y="1885361"/>
            <a:ext cx="11020722" cy="4607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Author-Level Metrics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graphicFrame>
        <p:nvGraphicFramePr>
          <p:cNvPr id="313" name="Google Shape;313;p50"/>
          <p:cNvGraphicFramePr/>
          <p:nvPr/>
        </p:nvGraphicFramePr>
        <p:xfrm>
          <a:off x="838196" y="24854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{955990A1-7C6C-459C-9C85-172F1A4ACEE3}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82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Metric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Formula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Interpretation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4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h-index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(Hirsch index)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Measures productivity &amp; citation impact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h papers cited ≥ h times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h-index 20 = 20 papers with 20+ citations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4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i10-index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Count of papers with ≥10 citations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–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i10-index 50 = 50 such papers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</a:tr>
              <a:tr h="1206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g-index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(generalized index)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Gives more weight to highly cited papers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√(sum of citations)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g-index 30 = 30 most cited papers average 900 citations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Key Research Metrics</a:t>
            </a:r>
            <a:endParaRPr/>
          </a:p>
        </p:txBody>
      </p:sp>
      <p:sp>
        <p:nvSpPr>
          <p:cNvPr id="319" name="Google Shape;319;p51"/>
          <p:cNvSpPr txBox="1"/>
          <p:nvPr>
            <p:ph idx="1" type="body"/>
          </p:nvPr>
        </p:nvSpPr>
        <p:spPr>
          <a:xfrm>
            <a:off x="838200" y="1611983"/>
            <a:ext cx="11020722" cy="4607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Journal-Level Metrics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graphicFrame>
        <p:nvGraphicFramePr>
          <p:cNvPr id="320" name="Google Shape;320;p51"/>
          <p:cNvGraphicFramePr/>
          <p:nvPr/>
        </p:nvGraphicFramePr>
        <p:xfrm>
          <a:off x="499621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{484473AD-06B3-49C7-A91A-2991E6DCF24C}</a:tableStyleId>
              </a:tblPr>
              <a:tblGrid>
                <a:gridCol w="2877525"/>
                <a:gridCol w="2877525"/>
                <a:gridCol w="2877525"/>
                <a:gridCol w="28775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Metric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Calculation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Example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Impact Factor (IF)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Average citations per article in 2 years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Citations in Year X to articles from X-1 &amp; X-2 ÷ Total citable items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IF 5.0 = 5 citations per article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CiteScore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Scopus' metric (3-year window)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Citations in 3 years ÷ Documents published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CiteScore 7.2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SJR (SCImago Journal Rank)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Weighted citations based on journal prestige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Citations from influential journals count more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SJR 1.5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SNIP (Source Normalized Impact per Paper)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Adjusts for differences in citation behavior across fields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Citations per paper ÷ Citation potential in field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SNIP 2.1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Where to Find These Metrics?</a:t>
            </a:r>
            <a:endParaRPr/>
          </a:p>
        </p:txBody>
      </p:sp>
      <p:sp>
        <p:nvSpPr>
          <p:cNvPr id="326" name="Google Shape;326;p52"/>
          <p:cNvSpPr txBox="1"/>
          <p:nvPr/>
        </p:nvSpPr>
        <p:spPr>
          <a:xfrm>
            <a:off x="838199" y="1598464"/>
            <a:ext cx="10785049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Databases &amp; Tools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Google Scholar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(h-index, i10-index, citations)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Scopus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(CiteScore, SJR)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Web of Science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(Impact Factor, h-index)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Journal Citation Reports (JCR)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(Impact Factor rankings)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Alternative Metrics (Altmetrics)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Dimensions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(Citations + policy/social impact)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PlumX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(Tracks mentions in news, blogs, patents)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How to Improve Research Metrics?</a:t>
            </a:r>
            <a:endParaRPr/>
          </a:p>
        </p:txBody>
      </p:sp>
      <p:sp>
        <p:nvSpPr>
          <p:cNvPr id="332" name="Google Shape;332;p53"/>
          <p:cNvSpPr txBox="1"/>
          <p:nvPr/>
        </p:nvSpPr>
        <p:spPr>
          <a:xfrm>
            <a:off x="838199" y="1598464"/>
            <a:ext cx="10785049" cy="443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AutoNum type="arabicPeriod"/>
            </a:pPr>
            <a:r>
              <a:rPr b="1"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Publish in High-Impact Journals</a:t>
            </a: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(Check JCR rankings)</a:t>
            </a:r>
            <a:endParaRPr/>
          </a:p>
          <a:p>
            <a:pPr indent="-203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AutoNum type="arabicPeriod"/>
            </a:pPr>
            <a:r>
              <a:rPr b="1"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Increase Visibility</a:t>
            </a: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(Share on ResearchGate, LinkedIn)</a:t>
            </a:r>
            <a:endParaRPr/>
          </a:p>
          <a:p>
            <a:pPr indent="-203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AutoNum type="arabicPeriod"/>
            </a:pPr>
            <a:r>
              <a:rPr b="1"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Collaborate</a:t>
            </a: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(Co-author with well-cited researchers)</a:t>
            </a:r>
            <a:endParaRPr/>
          </a:p>
          <a:p>
            <a:pPr indent="-203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AutoNum type="arabicPeriod"/>
            </a:pPr>
            <a:r>
              <a:rPr b="1"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Cite Strategically</a:t>
            </a: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(Reference recent, relevant works)</a:t>
            </a:r>
            <a:endParaRPr/>
          </a:p>
          <a:p>
            <a:pPr indent="-203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AutoNum type="arabicPeriod"/>
            </a:pPr>
            <a:r>
              <a:rPr b="1"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Promote Open Access</a:t>
            </a: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(More accessible = more citations)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Limitations of Research Metrics</a:t>
            </a:r>
            <a:endParaRPr/>
          </a:p>
        </p:txBody>
      </p:sp>
      <p:graphicFrame>
        <p:nvGraphicFramePr>
          <p:cNvPr id="338" name="Google Shape;338;p54"/>
          <p:cNvGraphicFramePr/>
          <p:nvPr/>
        </p:nvGraphicFramePr>
        <p:xfrm>
          <a:off x="838200" y="19438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{B79C9A1E-E09B-430A-8E56-1B7F328ACACB}</a:tableStyleId>
              </a:tblPr>
              <a:tblGrid>
                <a:gridCol w="10832175"/>
              </a:tblGrid>
              <a:tr h="30480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 u="none" cap="none" strike="noStrike"/>
                        <a:t>Can be skewed by a few highly cited papers; varies by field; does not reflect article quality.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 u="none" cap="none" strike="noStrike"/>
                        <a:t>Doesn't account for context (positive vs. negative citations); varies by field and age of the paper.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 u="none" cap="none" strike="noStrike"/>
                        <a:t>Disadvantages early-career researchers; insensitive to highly cited outliers.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 u="none" cap="none" strike="noStrike"/>
                        <a:t>Measures popularity or attention rather than scholarly impact; vulnerable to hype and manipulation.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 u="none" cap="none" strike="noStrike"/>
                        <a:t>Often based on impact factor; may overlook newer or niche journals with strong editorial standards.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b="1" lang="en-US"/>
              <a:t>Best Practices	</a:t>
            </a:r>
            <a:endParaRPr/>
          </a:p>
        </p:txBody>
      </p:sp>
      <p:sp>
        <p:nvSpPr>
          <p:cNvPr id="344" name="Google Shape;344;p55"/>
          <p:cNvSpPr txBox="1"/>
          <p:nvPr/>
        </p:nvSpPr>
        <p:spPr>
          <a:xfrm>
            <a:off x="838199" y="1598464"/>
            <a:ext cx="10785049" cy="2216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✔ Use multiple metrics (not just Impact Factor)</a:t>
            </a:r>
            <a:b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✔ Compare within the same research field</a:t>
            </a:r>
            <a:b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✔ Focus on quality, not just quantity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6"/>
          <p:cNvSpPr txBox="1"/>
          <p:nvPr>
            <p:ph type="title"/>
          </p:nvPr>
        </p:nvSpPr>
        <p:spPr>
          <a:xfrm>
            <a:off x="706226" y="506528"/>
            <a:ext cx="10455111" cy="433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Thanks to All</a:t>
            </a:r>
            <a:br>
              <a:rPr b="1" lang="en-US" sz="6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96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96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lang="en-US" sz="9600">
                <a:latin typeface="Arial"/>
                <a:ea typeface="Arial"/>
                <a:cs typeface="Arial"/>
                <a:sym typeface="Arial"/>
              </a:rPr>
              <a:t>ny </a:t>
            </a:r>
            <a:r>
              <a:rPr b="1" lang="en-US" sz="96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1" lang="en-US" sz="9600">
                <a:latin typeface="Arial"/>
                <a:ea typeface="Arial"/>
                <a:cs typeface="Arial"/>
                <a:sym typeface="Arial"/>
              </a:rPr>
              <a:t>uestion</a:t>
            </a:r>
            <a:r>
              <a:rPr b="1" lang="en-US" sz="9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